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493776" cy="493776"/>
          </a:xfrm>
          <a:prstGeom prst="roundRect">
            <a:avLst/>
          </a:prstGeom>
          <a:solidFill>
            <a:srgbClr val="6557D9"/>
          </a:solidFill>
          <a:ln w="12700">
            <a:solidFill>
              <a:srgbClr val="655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49377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2120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КнигоУчёт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54480"/>
            <a:ext cx="585216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ptos"/>
              </a:rPr>
              <a:t>Система учёта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ptos"/>
              </a:rPr>
              <a:t>библиотечных книг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82112"/>
            <a:ext cx="484632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6D3FF"/>
                </a:solidFill>
                <a:latin typeface="Aptos"/>
              </a:rPr>
              <a:t>Каталог · читатели · выдачи и возвраты · отчёты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1371600" cy="283464"/>
          </a:xfrm>
          <a:prstGeom prst="roundRect">
            <a:avLst/>
          </a:prstGeom>
          <a:solidFill>
            <a:srgbClr val="3D3C62"/>
          </a:solidFill>
          <a:ln w="12700">
            <a:solidFill>
              <a:srgbClr val="3D3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32504"/>
            <a:ext cx="137160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DEDAFF"/>
                </a:solidFill>
                <a:latin typeface="Aptos"/>
              </a:rPr>
              <a:t>WEB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4023360"/>
            <a:ext cx="1828800" cy="283464"/>
          </a:xfrm>
          <a:prstGeom prst="roundRect">
            <a:avLst/>
          </a:prstGeom>
          <a:solidFill>
            <a:srgbClr val="3D3C62"/>
          </a:solidFill>
          <a:ln w="12700">
            <a:solidFill>
              <a:srgbClr val="3D3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4032504"/>
            <a:ext cx="182880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DEDAFF"/>
                </a:solidFill>
                <a:latin typeface="Aptos"/>
              </a:rPr>
              <a:t>LOCAL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4023360"/>
            <a:ext cx="1280160" cy="283464"/>
          </a:xfrm>
          <a:prstGeom prst="roundRect">
            <a:avLst/>
          </a:prstGeom>
          <a:solidFill>
            <a:srgbClr val="3D3C62"/>
          </a:solidFill>
          <a:ln w="12700">
            <a:solidFill>
              <a:srgbClr val="3D3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4032504"/>
            <a:ext cx="128016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DEDAFF"/>
                </a:solidFill>
                <a:latin typeface="Aptos"/>
              </a:rPr>
              <a:t>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7C6DE"/>
                </a:solidFill>
                <a:latin typeface="Aptos"/>
              </a:rPr>
              <a:t>Практическая работа № 6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7C6DE"/>
                </a:solidFill>
                <a:latin typeface="Aptos"/>
              </a:rPr>
              <a:t>2026</a:t>
            </a:r>
          </a:p>
        </p:txBody>
      </p:sp>
      <p:pic>
        <p:nvPicPr>
          <p:cNvPr id="14" name="Picture 13" descr="_pp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257800" cy="3886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5029200"/>
            <a:ext cx="52120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4B5D0"/>
                </a:solidFill>
                <a:latin typeface="Aptos"/>
              </a:rPr>
              <a:t>Веб-интерфейс показан как визуальный эскиз.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5D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57D9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2243A"/>
                </a:solidFill>
                <a:latin typeface="Aptos"/>
              </a:rPr>
              <a:t>Задача и цель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Единый рабочий процесс вместо разрозненных списков и ручного пересчёта.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201400" cy="13716"/>
          </a:xfrm>
          <a:prstGeom prst="rect">
            <a:avLst/>
          </a:prstGeom>
          <a:solidFill>
            <a:srgbClr val="E2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8368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КнигоУчёт · Локальная система учёта книг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94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64008" cy="1417320"/>
          </a:xfrm>
          <a:prstGeom prst="rect">
            <a:avLst/>
          </a:prstGeom>
          <a:solidFill>
            <a:srgbClr val="D35362"/>
          </a:solidFill>
          <a:ln w="12700">
            <a:solidFill>
              <a:srgbClr val="D35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10512"/>
            <a:ext cx="31089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43A"/>
                </a:solidFill>
                <a:latin typeface="Aptos"/>
              </a:rPr>
              <a:t>Проблема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58568"/>
            <a:ext cx="3090672" cy="7040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Риск ошибки в остатках, сроках возврата и читательских записях.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64008" cy="1417320"/>
          </a:xfrm>
          <a:prstGeom prst="rect">
            <a:avLst/>
          </a:prstGeom>
          <a:solidFill>
            <a:srgbClr val="6557D9"/>
          </a:solidFill>
          <a:ln w="12700">
            <a:solidFill>
              <a:srgbClr val="655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10512"/>
            <a:ext cx="31089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43A"/>
                </a:solidFill>
                <a:latin typeface="Aptos"/>
              </a:rPr>
              <a:t>Цель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58568"/>
            <a:ext cx="3090672" cy="7040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Объединить каталог, читателей, журнал выдач и отчёты в одном интерфейсе.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45920"/>
            <a:ext cx="64008" cy="1417320"/>
          </a:xfrm>
          <a:prstGeom prst="rect">
            <a:avLst/>
          </a:prstGeom>
          <a:solidFill>
            <a:srgbClr val="239A70"/>
          </a:solidFill>
          <a:ln w="12700">
            <a:solidFill>
              <a:srgbClr val="23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810512"/>
            <a:ext cx="31089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43A"/>
                </a:solidFill>
                <a:latin typeface="Aptos"/>
              </a:rPr>
              <a:t>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258568"/>
            <a:ext cx="3090672" cy="7040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Локально запускаемое веб-приложение с базой данных и API.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52120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57D9"/>
                </a:solidFill>
                <a:latin typeface="Aptos"/>
              </a:rPr>
              <a:t>КЛЮЧЕВЫЕ ЗАДАЧИ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77639"/>
            <a:ext cx="365760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86783"/>
            <a:ext cx="36576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86783"/>
            <a:ext cx="5212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43A"/>
                </a:solidFill>
                <a:latin typeface="Aptos"/>
              </a:rPr>
              <a:t>Учёт книг и доступного количества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365760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98264"/>
            <a:ext cx="36576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98264"/>
            <a:ext cx="5212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43A"/>
                </a:solidFill>
                <a:latin typeface="Aptos"/>
              </a:rPr>
              <a:t>Регистрация читателей и читательских билетов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00600"/>
            <a:ext cx="365760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09744"/>
            <a:ext cx="36576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809744"/>
            <a:ext cx="5212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43A"/>
                </a:solidFill>
                <a:latin typeface="Aptos"/>
              </a:rPr>
              <a:t>Безопасная выдача и возврат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12079"/>
            <a:ext cx="365760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21223"/>
            <a:ext cx="36576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221223"/>
            <a:ext cx="5212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43A"/>
                </a:solidFill>
                <a:latin typeface="Aptos"/>
              </a:rPr>
              <a:t>Отчёты, просрочки, выгрузка CSV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23559"/>
            <a:ext cx="365760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632703"/>
            <a:ext cx="36576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632703"/>
            <a:ext cx="5212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43A"/>
                </a:solidFill>
                <a:latin typeface="Aptos"/>
              </a:rPr>
              <a:t>Защищённое API с JWT</a:t>
            </a:r>
          </a:p>
        </p:txBody>
      </p:sp>
      <p:pic>
        <p:nvPicPr>
          <p:cNvPr id="36" name="Picture 35" descr="_pp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520440"/>
            <a:ext cx="48920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57D9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2243A"/>
                </a:solidFill>
                <a:latin typeface="Aptos"/>
              </a:rPr>
              <a:t>Что умеет 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Основные операции связаны между собой и изменяют единые данные.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201400" cy="13716"/>
          </a:xfrm>
          <a:prstGeom prst="rect">
            <a:avLst/>
          </a:prstGeom>
          <a:solidFill>
            <a:srgbClr val="E2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8368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КнигоУчёт · Локальная система учёта книг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94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856232"/>
            <a:ext cx="502920" cy="502920"/>
          </a:xfrm>
          <a:prstGeom prst="ellipse">
            <a:avLst/>
          </a:prstGeom>
          <a:solidFill>
            <a:srgbClr val="655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28800"/>
            <a:ext cx="4023360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43A"/>
                </a:solidFill>
                <a:latin typeface="Aptos"/>
              </a:rPr>
              <a:t>Каталог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86000"/>
            <a:ext cx="3886200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C7E94"/>
                </a:solidFill>
                <a:latin typeface="Aptos"/>
              </a:rPr>
              <a:t>Название, автор, ISBN, жанр, полка и остатки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1856232"/>
            <a:ext cx="502920" cy="502920"/>
          </a:xfrm>
          <a:prstGeom prst="ellipse">
            <a:avLst/>
          </a:prstGeom>
          <a:solidFill>
            <a:srgbClr val="23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4767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828800"/>
            <a:ext cx="4023360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43A"/>
                </a:solidFill>
                <a:latin typeface="Aptos"/>
              </a:rPr>
              <a:t>Читатели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286000"/>
            <a:ext cx="3886200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C7E94"/>
                </a:solidFill>
                <a:latin typeface="Aptos"/>
              </a:rPr>
              <a:t>Уникальный билет, контакты, статус обслуживания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776472"/>
            <a:ext cx="502920" cy="502920"/>
          </a:xfrm>
          <a:prstGeom prst="ellipse">
            <a:avLst/>
          </a:prstGeom>
          <a:solidFill>
            <a:srgbClr val="BD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49039"/>
            <a:ext cx="4023360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43A"/>
                </a:solidFill>
                <a:latin typeface="Aptos"/>
              </a:rPr>
              <a:t>Выдачи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06240"/>
            <a:ext cx="3886200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C7E94"/>
                </a:solidFill>
                <a:latin typeface="Aptos"/>
              </a:rPr>
              <a:t>Срок возврата, журнал операций, текущий статус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52044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3776472"/>
            <a:ext cx="502920" cy="502920"/>
          </a:xfrm>
          <a:prstGeom prst="ellipse">
            <a:avLst/>
          </a:prstGeom>
          <a:solidFill>
            <a:srgbClr val="655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86791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749039"/>
            <a:ext cx="4023360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243A"/>
                </a:solidFill>
                <a:latin typeface="Aptos"/>
              </a:rPr>
              <a:t>Отчёты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06240"/>
            <a:ext cx="3886200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C7E94"/>
                </a:solidFill>
                <a:latin typeface="Aptos"/>
              </a:rPr>
              <a:t>KPI, просрочки, малый остаток, 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623560"/>
            <a:ext cx="10881360" cy="502920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751576"/>
            <a:ext cx="105156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557D9"/>
                </a:solidFill>
                <a:latin typeface="Aptos"/>
              </a:rPr>
              <a:t>Правило: доступный остаток уменьшается при выдаче и увеличивается при возврате.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57D9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2243A"/>
                </a:solidFill>
                <a:latin typeface="Aptos"/>
              </a:rPr>
              <a:t>Структура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Функциональные разделы отвечают за отдельные части библиотечного учёта.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201400" cy="13716"/>
          </a:xfrm>
          <a:prstGeom prst="rect">
            <a:avLst/>
          </a:prstGeom>
          <a:solidFill>
            <a:srgbClr val="E2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8368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КнигоУчёт · Локальная система учёта книг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94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04</a:t>
            </a:r>
          </a:p>
        </p:txBody>
      </p:sp>
      <p:pic>
        <p:nvPicPr>
          <p:cNvPr id="8" name="Picture 7" descr="_pp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897880"/>
            <a:ext cx="106984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7C7E94"/>
                </a:solidFill>
                <a:latin typeface="Aptos"/>
              </a:rPr>
              <a:t>Серверная логика и база данных общие для браузерного интерфейса и REST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57D9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2243A"/>
                </a:solidFill>
                <a:latin typeface="Aptos"/>
              </a:rPr>
              <a:t>Таблицы и связи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Журнал выдач связывает конкретную книгу, читателя и сотрудника.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201400" cy="13716"/>
          </a:xfrm>
          <a:prstGeom prst="rect">
            <a:avLst/>
          </a:prstGeom>
          <a:solidFill>
            <a:srgbClr val="E2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8368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КнигоУчёт · Локальная система учёта книг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94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05</a:t>
            </a:r>
          </a:p>
        </p:txBody>
      </p:sp>
      <p:pic>
        <p:nvPicPr>
          <p:cNvPr id="8" name="Picture 7" descr="_pp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253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7C7E94"/>
                </a:solidFill>
                <a:latin typeface="Aptos"/>
              </a:rPr>
              <a:t>История операций сохраняется; запись книги с историей выдачи нельзя удалить.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57D9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2243A"/>
                </a:solidFill>
                <a:latin typeface="Aptos"/>
              </a:rPr>
              <a:t>Рабочая панель и контроль фонда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Сводные показатели помогают быстро увидеть состояние библиотеки.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201400" cy="13716"/>
          </a:xfrm>
          <a:prstGeom prst="rect">
            <a:avLst/>
          </a:prstGeom>
          <a:solidFill>
            <a:srgbClr val="E2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8368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КнигоУчёт · Локальная система учёта книг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94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06</a:t>
            </a:r>
          </a:p>
        </p:txBody>
      </p:sp>
      <p:pic>
        <p:nvPicPr>
          <p:cNvPr id="8" name="Picture 7" descr="_pp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7498079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1600200"/>
            <a:ext cx="2971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600200"/>
            <a:ext cx="64008" cy="1051560"/>
          </a:xfrm>
          <a:prstGeom prst="rect">
            <a:avLst/>
          </a:prstGeom>
          <a:solidFill>
            <a:srgbClr val="6557D9"/>
          </a:solidFill>
          <a:ln w="12700">
            <a:solidFill>
              <a:srgbClr val="655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764792"/>
            <a:ext cx="2606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43A"/>
                </a:solidFill>
                <a:latin typeface="Aptos"/>
              </a:rPr>
              <a:t>Показатели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212848"/>
            <a:ext cx="2587752" cy="33832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Названия, экземпляры, читатели, открытые выдачи.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852928"/>
            <a:ext cx="2971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852928"/>
            <a:ext cx="64008" cy="1051560"/>
          </a:xfrm>
          <a:prstGeom prst="rect">
            <a:avLst/>
          </a:prstGeom>
          <a:solidFill>
            <a:srgbClr val="D35362"/>
          </a:solidFill>
          <a:ln w="12700">
            <a:solidFill>
              <a:srgbClr val="D35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3017520"/>
            <a:ext cx="2606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43A"/>
                </a:solidFill>
                <a:latin typeface="Aptos"/>
              </a:rPr>
              <a:t>Контроль сроков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3465576"/>
            <a:ext cx="2587752" cy="33832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Просроченные операции вынесены в отдельный блок.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105656"/>
            <a:ext cx="2971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4105656"/>
            <a:ext cx="64008" cy="1051560"/>
          </a:xfrm>
          <a:prstGeom prst="rect">
            <a:avLst/>
          </a:prstGeom>
          <a:solidFill>
            <a:srgbClr val="BD7C20"/>
          </a:solidFill>
          <a:ln w="12700">
            <a:solidFill>
              <a:srgbClr val="BD7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4270248"/>
            <a:ext cx="2606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43A"/>
                </a:solidFill>
                <a:latin typeface="Aptos"/>
              </a:rPr>
              <a:t>Низкий остаток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4718304"/>
            <a:ext cx="2587752" cy="33832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Книги с малым количеством доступны для обзора.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57D9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2243A"/>
                </a:solidFill>
                <a:latin typeface="Aptos"/>
              </a:rPr>
              <a:t>Каталог и читательские карточки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Поиск и формы помогают вести основные справочные сведения.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201400" cy="13716"/>
          </a:xfrm>
          <a:prstGeom prst="rect">
            <a:avLst/>
          </a:prstGeom>
          <a:solidFill>
            <a:srgbClr val="E2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8368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КнигоУчёт · Локальная система учёта книг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94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07</a:t>
            </a:r>
          </a:p>
        </p:txBody>
      </p:sp>
      <p:pic>
        <p:nvPicPr>
          <p:cNvPr id="8" name="Picture 7" descr="_pp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5532120" cy="4069080"/>
          </a:xfrm>
          <a:prstGeom prst="rect">
            <a:avLst/>
          </a:prstGeom>
        </p:spPr>
      </p:pic>
      <p:pic>
        <p:nvPicPr>
          <p:cNvPr id="9" name="Picture 8" descr="_ppt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5257800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806440"/>
            <a:ext cx="530352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43A"/>
                </a:solidFill>
                <a:latin typeface="Aptos"/>
              </a:rPr>
              <a:t>Каталог: поиск, фильтры, ISBN, место хранения.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806440"/>
            <a:ext cx="521208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43A"/>
                </a:solidFill>
                <a:latin typeface="Aptos"/>
              </a:rPr>
              <a:t>Читатели: билеты, контакты, активность.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57D9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2243A"/>
                </a:solidFill>
                <a:latin typeface="Aptos"/>
              </a:rPr>
              <a:t>Выдача и возврат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Перед сохранением сервер проверяет наличие экземпляра и статус читателя.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201400" cy="13716"/>
          </a:xfrm>
          <a:prstGeom prst="rect">
            <a:avLst/>
          </a:prstGeom>
          <a:solidFill>
            <a:srgbClr val="E2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8368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КнигоУчёт · Локальная система учёта книг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94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08</a:t>
            </a:r>
          </a:p>
        </p:txBody>
      </p:sp>
      <p:pic>
        <p:nvPicPr>
          <p:cNvPr id="8" name="Picture 7" descr="_pp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58368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64592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645920"/>
            <a:ext cx="64008" cy="1005840"/>
          </a:xfrm>
          <a:prstGeom prst="rect">
            <a:avLst/>
          </a:prstGeom>
          <a:solidFill>
            <a:srgbClr val="6557D9"/>
          </a:solidFill>
          <a:ln w="12700">
            <a:solidFill>
              <a:srgbClr val="655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810512"/>
            <a:ext cx="361187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43A"/>
                </a:solidFill>
                <a:latin typeface="Aptos"/>
              </a:rPr>
              <a:t>Выдача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58568"/>
            <a:ext cx="3593591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Выбор книги, читателя и срока возврата.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88036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2880360"/>
            <a:ext cx="64008" cy="1005840"/>
          </a:xfrm>
          <a:prstGeom prst="rect">
            <a:avLst/>
          </a:prstGeom>
          <a:solidFill>
            <a:srgbClr val="239A70"/>
          </a:solidFill>
          <a:ln w="12700">
            <a:solidFill>
              <a:srgbClr val="23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044952"/>
            <a:ext cx="361187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43A"/>
                </a:solidFill>
                <a:latin typeface="Aptos"/>
              </a:rPr>
              <a:t>Возврат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3493008"/>
            <a:ext cx="3593591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Фиксация даты и восстановление доступного остатка.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4114800"/>
            <a:ext cx="397763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4114800"/>
            <a:ext cx="64008" cy="1005840"/>
          </a:xfrm>
          <a:prstGeom prst="rect">
            <a:avLst/>
          </a:prstGeom>
          <a:solidFill>
            <a:srgbClr val="D35362"/>
          </a:solidFill>
          <a:ln w="12700">
            <a:solidFill>
              <a:srgbClr val="D35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2" y="4279392"/>
            <a:ext cx="361187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43A"/>
                </a:solidFill>
                <a:latin typeface="Aptos"/>
              </a:rPr>
              <a:t>Просрочка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4727448"/>
            <a:ext cx="3593591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Вычисляется автоматически, пока выдача не завершена.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5532120"/>
            <a:ext cx="38404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Операции выполняются транзакционно.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57D9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2243A"/>
                </a:solidFill>
                <a:latin typeface="Aptos"/>
              </a:rPr>
              <a:t>Отчёты и выгрузка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CSV-отчёт можно открыть в Excel или LibreOffice Calc.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201400" cy="13716"/>
          </a:xfrm>
          <a:prstGeom prst="rect">
            <a:avLst/>
          </a:prstGeom>
          <a:solidFill>
            <a:srgbClr val="E2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8368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КнигоУчёт · Локальная система учёта книг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94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09</a:t>
            </a:r>
          </a:p>
        </p:txBody>
      </p:sp>
      <p:pic>
        <p:nvPicPr>
          <p:cNvPr id="8" name="Picture 7" descr="_pp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7589520" cy="4709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737360"/>
            <a:ext cx="2971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93392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43A"/>
                </a:solidFill>
                <a:latin typeface="Aptos"/>
              </a:rPr>
              <a:t>В CSV входят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560320"/>
            <a:ext cx="38404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569463"/>
            <a:ext cx="38404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58775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Aptos"/>
              </a:rPr>
              <a:t>Название и автор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971800"/>
            <a:ext cx="38404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980944"/>
            <a:ext cx="38404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99923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Aptos"/>
              </a:rPr>
              <a:t>ISBN и раздел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383279"/>
            <a:ext cx="38404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392423"/>
            <a:ext cx="38404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41071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Aptos"/>
              </a:rPr>
              <a:t>Издательство и год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794760"/>
            <a:ext cx="38404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803904"/>
            <a:ext cx="38404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822191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Aptos"/>
              </a:rPr>
              <a:t>Полка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206240"/>
            <a:ext cx="38404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4215383"/>
            <a:ext cx="38404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23367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Aptos"/>
              </a:rPr>
              <a:t>Всего экземпляров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4617720"/>
            <a:ext cx="38404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626864"/>
            <a:ext cx="38404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645152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Aptos"/>
              </a:rPr>
              <a:t>Доступно и на руках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577840"/>
            <a:ext cx="274320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C7E94"/>
                </a:solidFill>
                <a:latin typeface="Aptos"/>
              </a:rPr>
              <a:t>Отчёт строится по текущим данным.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57D9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2243A"/>
                </a:solidFill>
                <a:latin typeface="Aptos"/>
              </a:rPr>
              <a:t>REST API и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API защищён: для большинства запросов необходим действующий access-токен.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201400" cy="13716"/>
          </a:xfrm>
          <a:prstGeom prst="rect">
            <a:avLst/>
          </a:prstGeom>
          <a:solidFill>
            <a:srgbClr val="E2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8368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КнигоУчёт · Локальная система учёта книг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94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10</a:t>
            </a:r>
          </a:p>
        </p:txBody>
      </p:sp>
      <p:pic>
        <p:nvPicPr>
          <p:cNvPr id="8" name="Picture 7" descr="_pp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92240" cy="4526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600200"/>
            <a:ext cx="4206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43A"/>
                </a:solidFill>
                <a:latin typeface="Aptos"/>
              </a:rPr>
              <a:t>Ключевые адреса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468880"/>
            <a:ext cx="530352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478024"/>
            <a:ext cx="530352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487168"/>
            <a:ext cx="2880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Consolas"/>
              </a:rPr>
              <a:t>/api/books/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971800"/>
            <a:ext cx="530352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980944"/>
            <a:ext cx="530352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990088"/>
            <a:ext cx="2880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Consolas"/>
              </a:rPr>
              <a:t>/api/readers/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474720"/>
            <a:ext cx="530352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3483864"/>
            <a:ext cx="530352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493008"/>
            <a:ext cx="2880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Consolas"/>
              </a:rPr>
              <a:t>/api/loans/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977640"/>
            <a:ext cx="530352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986784"/>
            <a:ext cx="530352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995928"/>
            <a:ext cx="2880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Consolas"/>
              </a:rPr>
              <a:t>/api/loans/{id}/return/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4480560"/>
            <a:ext cx="530352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4489704"/>
            <a:ext cx="530352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498848"/>
            <a:ext cx="2880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Consolas"/>
              </a:rPr>
              <a:t>/api/reports/kpi/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983480"/>
            <a:ext cx="530352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4992624"/>
            <a:ext cx="530352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001768"/>
            <a:ext cx="2880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2243A"/>
                </a:solidFill>
                <a:latin typeface="Consolas"/>
              </a:rPr>
              <a:t>/api/auth/token/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650992"/>
            <a:ext cx="34747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C7E94"/>
                </a:solidFill>
                <a:latin typeface="Consolas"/>
              </a:rPr>
              <a:t>Токен: Authorization: Bearer 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57D9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2243A"/>
                </a:solidFill>
                <a:latin typeface="Aptos"/>
              </a:rPr>
              <a:t>Тестирование и техническая проверка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C7E94"/>
                </a:solidFill>
                <a:latin typeface="Aptos"/>
              </a:rPr>
              <a:t>В проект включены автоматические проверки правил выдачи и возврата.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56248"/>
            <a:ext cx="11201400" cy="13716"/>
          </a:xfrm>
          <a:prstGeom prst="rect">
            <a:avLst/>
          </a:prstGeom>
          <a:solidFill>
            <a:srgbClr val="E2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8368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КнигоУчёт · Локальная система учёта книг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94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7C7E94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801368"/>
            <a:ext cx="65836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65836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239A70"/>
                </a:solidFill>
                <a:latin typeface="Aptos"/>
              </a:rPr>
              <a:t>TC-01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801368"/>
            <a:ext cx="397763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43A"/>
                </a:solidFill>
                <a:latin typeface="Aptos"/>
              </a:rPr>
              <a:t>Запас уменьшается при выдаче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72768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01368"/>
            <a:ext cx="65836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10512"/>
            <a:ext cx="65836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239A70"/>
                </a:solidFill>
                <a:latin typeface="Aptos"/>
              </a:rPr>
              <a:t>TC-02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01368"/>
            <a:ext cx="397763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43A"/>
                </a:solidFill>
                <a:latin typeface="Aptos"/>
              </a:rPr>
              <a:t>Запас восстанавливается при возврате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88336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916936"/>
            <a:ext cx="65836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79"/>
            <a:ext cx="65836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D35362"/>
                </a:solidFill>
                <a:latin typeface="Aptos"/>
              </a:rPr>
              <a:t>TC-03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916936"/>
            <a:ext cx="397763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43A"/>
                </a:solidFill>
                <a:latin typeface="Aptos"/>
              </a:rPr>
              <a:t>Нельзя выдать книгу сверх фонда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688336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2916936"/>
            <a:ext cx="65836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926079"/>
            <a:ext cx="65836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D35362"/>
                </a:solidFill>
                <a:latin typeface="Aptos"/>
              </a:rPr>
              <a:t>TC-04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916936"/>
            <a:ext cx="397763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43A"/>
                </a:solidFill>
                <a:latin typeface="Aptos"/>
              </a:rPr>
              <a:t>Неактивный читатель не получает книгу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803904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032504"/>
            <a:ext cx="65836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041648"/>
            <a:ext cx="65836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TC-05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032504"/>
            <a:ext cx="397763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43A"/>
                </a:solidFill>
                <a:latin typeface="Aptos"/>
              </a:rPr>
              <a:t>API требует токен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803904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032504"/>
            <a:ext cx="658368" cy="283464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41648"/>
            <a:ext cx="65836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6557D9"/>
                </a:solidFill>
                <a:latin typeface="Aptos"/>
              </a:rPr>
              <a:t>TC-06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032504"/>
            <a:ext cx="397763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43A"/>
                </a:solidFill>
                <a:latin typeface="Aptos"/>
              </a:rPr>
              <a:t>CSV содержит текущие остатки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074920"/>
            <a:ext cx="10835640" cy="91440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8D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0368"/>
            <a:ext cx="10332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D7C20"/>
                </a:solidFill>
                <a:latin typeface="Aptos"/>
              </a:rPr>
              <a:t>Статус подготовки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32120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D5E29"/>
                </a:solidFill>
                <a:latin typeface="Aptos"/>
              </a:rPr>
              <a:t>В среде сборки зависимости не удалось загрузить из сети; окончательный запуск тестов нужен на локальном ПК.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7AEFF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65836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Итоги и запуск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30352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CDCF1"/>
                </a:solidFill>
                <a:latin typeface="Aptos"/>
              </a:rPr>
              <a:t>КнигоУчёт объединяет каталог, читательские карточки, выдачи, возвраты и отчётность.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43200"/>
            <a:ext cx="6492240" cy="2331720"/>
          </a:xfrm>
          <a:prstGeom prst="roundRect">
            <a:avLst/>
          </a:prstGeom>
          <a:solidFill>
            <a:srgbClr val="2F3050"/>
          </a:solidFill>
          <a:ln w="12700">
            <a:solidFill>
              <a:srgbClr val="47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B9B1FF"/>
                </a:solidFill>
                <a:latin typeface="Aptos"/>
              </a:rPr>
              <a:t>КОМАНДЫ ДЛЯ ЛОКАЛЬНОГО СТАРТА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594360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python -m pip install -r requirements.txt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python manage.py migrate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python manage.py seed_demo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python manage.py runserver 127.0.0.1:8000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2880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7AEFF"/>
                </a:solidFill>
                <a:latin typeface="Aptos"/>
              </a:rPr>
              <a:t>После запуска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286000"/>
            <a:ext cx="3749039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Открыть: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http://127.0.0.1:8000/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Демо-вход: admin / admin12345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251960"/>
            <a:ext cx="37033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DCDCF1"/>
                </a:solidFill>
                <a:latin typeface="Aptos"/>
              </a:rPr>
              <a:t>Перед реальной эксплуатацией смените пароль и секретные настройки.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72200"/>
            <a:ext cx="9144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Спасибо за внимание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5D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